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1A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PTD-BR CORPUS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Planos de Transformação Digital do Governo Federal Brasileiro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FFFF"/>
                </a:solidFill>
              </a:rPr>
              <a:t>Coleta · Extração · Estruturação · Análise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834640"/>
            <a:ext cx="1124712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IPEA / COGIT / DIEST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Denise do Carmo Direito  ·  Lucas Freire Silva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40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Versão 3.0  ·  06/04/2026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Documento de trabalho — não citar sem autorização dos autores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O QUE SÃO OS PTDs?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73152" cy="502920"/>
          </a:xfrm>
          <a:prstGeom prst="rect">
            <a:avLst/>
          </a:prstGeom>
          <a:solidFill>
            <a:srgbClr val="1A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4E"/>
                </a:solidFill>
              </a:rPr>
              <a:t>Base legal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Decreto nº 12.198/2024 · Portaria SGD/MGI nº 6.618/2024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94560"/>
            <a:ext cx="73152" cy="502920"/>
          </a:xfrm>
          <a:prstGeom prst="rect">
            <a:avLst/>
          </a:prstGeom>
          <a:solidFill>
            <a:srgbClr val="1A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4E"/>
                </a:solidFill>
              </a:rPr>
              <a:t>Obrigação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90 órgãos da APF pactuam metas digitais com o MGI para 2025–2027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00400"/>
            <a:ext cx="73152" cy="502920"/>
          </a:xfrm>
          <a:prstGeom prst="rect">
            <a:avLst/>
          </a:prstGeom>
          <a:solidFill>
            <a:srgbClr val="1A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200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4E"/>
                </a:solidFill>
              </a:rPr>
              <a:t>Estrutura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49300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6 Eixos da EFGD (Estratégia Federal de Governo Digital)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206240"/>
            <a:ext cx="73152" cy="502920"/>
          </a:xfrm>
          <a:prstGeom prst="rect">
            <a:avLst/>
          </a:prstGeom>
          <a:solidFill>
            <a:srgbClr val="1A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2062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4E"/>
                </a:solidFill>
              </a:rPr>
              <a:t>Documentos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49884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Anexo de Entregas (metas) + Documento Diretivo (riscos e diretrizes)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212080"/>
            <a:ext cx="73152" cy="502920"/>
          </a:xfrm>
          <a:prstGeom prst="rect">
            <a:avLst/>
          </a:prstGeom>
          <a:solidFill>
            <a:srgbClr val="1A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212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4E"/>
                </a:solidFill>
              </a:rPr>
              <a:t>Publicação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50468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Portal Gov Digital — PDFs públicos assinados digitalmente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035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0D2B4E"/>
                </a:solidFill>
              </a:rPr>
              <a:t>Por que coletar?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60350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44"/>
                </a:solidFill>
              </a:rPr>
              <a:t>Nenhuma base estruturada dos PTDs existia — este corpus é inédito.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ARQUITETURA DO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463040" cy="10058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LAYER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Coleta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371600"/>
            <a:ext cx="9509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Scraping dinâmico do portal → URLs dos PDFs → Download com SHA-256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2B4E"/>
                </a:solidFill>
              </a:rP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68880"/>
            <a:ext cx="1463040" cy="1005840"/>
          </a:xfrm>
          <a:prstGeom prst="rect">
            <a:avLst/>
          </a:prstGeom>
          <a:solidFill>
            <a:srgbClr val="1A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5603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LAYER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Extração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697480"/>
            <a:ext cx="9509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Docling TableFormer → tabelas dos PDFs → corpus_raw.csv + manifesto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5204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7F7A"/>
                </a:solidFill>
              </a:rP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794760"/>
            <a:ext cx="1463040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8862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LAYER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5196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Curadoria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4023360"/>
            <a:ext cx="9509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Parser texto→campos · Correção de eixo · Tipo de entrega · Flag 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846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97706"/>
                </a:solidFill>
              </a:rPr>
              <a:t>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120640"/>
            <a:ext cx="1463040" cy="1005840"/>
          </a:xfrm>
          <a:prstGeom prst="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21207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LAYER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57784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Análise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5349240"/>
            <a:ext cx="9509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</a:rPr>
              <a:t>Visualizações · Relatório HTML · Metadados JSON · Apresentação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O QUE FOI COLETADO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2377440" cy="155448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</a:rPr>
              <a:t>órgãos
cobertos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234440"/>
            <a:ext cx="2377440" cy="155448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2801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~130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1945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</a:rPr>
              <a:t>PDFs
baixados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234440"/>
            <a:ext cx="2377440" cy="155448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2801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18.396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1945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</a:rPr>
              <a:t>comprometimentos
no corpus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1234440"/>
            <a:ext cx="2377440" cy="155448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12801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420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1945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</a:rPr>
              <a:t>riscos
extraídos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08960"/>
            <a:ext cx="11247120" cy="36576"/>
          </a:xfrm>
          <a:prstGeom prst="rect">
            <a:avLst/>
          </a:prstGeom>
          <a:solidFill>
            <a:srgbClr val="1A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246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4E"/>
                </a:solidFill>
              </a:rPr>
              <a:t>Serviços únicos: 3.376  ·  Fator de multiplicidade: 5.45 prod/serv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703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4E"/>
                </a:solidFill>
              </a:rPr>
              <a:t>Grupos compartilhados (PDF único, N órgãos):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069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MMA → IBAMA · ICMBio · SFB · JBRJ  (1.715 comprometimentos)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5079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MF  → RFB · PGFN · STN  (993 comprometimentos)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94690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MT  → ANTT · DNIT  (132 comprometimentos)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38581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MDA → CONAB  (96 comprometimentos)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97706"/>
                </a:solidFill>
              </a:rPr>
              <a:t>Extração autônoma: 155 iterações do loop watcher · Docling TableFormer · pytesseract fallback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CORPUS DE ENTREGAS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2B4E"/>
                </a:solidFill>
              </a:rPr>
              <a:t>Unidade: comprometimento = serviço × produto  ·  18.396 linhas  ·  3.376 serviços únicos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444444"/>
                </a:solidFill>
              </a:rPr>
              <a:t>Fator de multiplicidade: 5.45 produtos/serviço  ·  Template SGD v2.3 · Loop autônomo ativo (iter. 155)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40280"/>
            <a:ext cx="502920" cy="10058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889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67.6%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5146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Centrado no Cidadão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240280"/>
            <a:ext cx="502920" cy="1005840"/>
          </a:xfrm>
          <a:prstGeom prst="rect">
            <a:avLst/>
          </a:prstGeom>
          <a:solidFill>
            <a:srgbClr val="1A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23317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7889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5146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Integrado e Colaborativo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2240280"/>
            <a:ext cx="502920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23317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7889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12.4%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25146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Inteligente e Inovador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703320"/>
            <a:ext cx="502920" cy="100584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7947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25196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17.3%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9776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Confiável e Seguro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3703320"/>
            <a:ext cx="502920" cy="1005840"/>
          </a:xfrm>
          <a:prstGeom prst="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37947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425196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39776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Transparente e Aberto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3703320"/>
            <a:ext cx="502920" cy="1005840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37947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425196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39776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Eficiente e Sustentável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309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97706"/>
                </a:solidFill>
              </a:rPr>
              <a:t>⚠ E1 dominante (67.7%) — possível bias de detecção. E5/E6 sub-representados (&lt;1%).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EVOLUÇÃO — 155 ITERAÇÕES AUTÔNOMAS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200400"/>
            <a:ext cx="10515600" cy="54864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2834640"/>
            <a:ext cx="146304" cy="64008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-182879" y="173736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63946"/>
                </a:solidFill>
              </a:rPr>
              <a:t>Stage 0
Cobertura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182879" y="36576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444444"/>
                </a:solidFill>
              </a:rPr>
              <a:t>10 órgãos
zerados</a:t>
            </a:r>
          </a:p>
        </p:txBody>
      </p:sp>
      <p:sp>
        <p:nvSpPr>
          <p:cNvPr id="9" name="Rectangle 8"/>
          <p:cNvSpPr/>
          <p:nvPr/>
        </p:nvSpPr>
        <p:spPr>
          <a:xfrm>
            <a:off x="3887343" y="2834640"/>
            <a:ext cx="146304" cy="640080"/>
          </a:xfrm>
          <a:prstGeom prst="rect">
            <a:avLst/>
          </a:prstGeom>
          <a:solidFill>
            <a:srgbClr val="1A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6095" y="173736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7F7A"/>
                </a:solidFill>
              </a:rPr>
              <a:t>Stage 0 →1
Concluído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6095" y="36576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444444"/>
                </a:solidFill>
              </a:rPr>
              <a:t>59/59
órgãos OK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16318" y="2834640"/>
            <a:ext cx="146304" cy="6400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5070" y="173736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97706"/>
                </a:solidFill>
              </a:rPr>
              <a:t>Stage 1
Qualidade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5070" y="36576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444444"/>
                </a:solidFill>
              </a:rPr>
              <a:t>vocab loop
vazio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603611" y="2834640"/>
            <a:ext cx="146304" cy="64008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62363" y="173736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2B4E"/>
                </a:solidFill>
              </a:rPr>
              <a:t>S4 ativo
meta_learning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62363" y="36576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444444"/>
                </a:solidFill>
              </a:rPr>
              <a:t>unmatched
por sigla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668190" y="2834640"/>
            <a:ext cx="146304" cy="640080"/>
          </a:xfrm>
          <a:prstGeom prst="rect">
            <a:avLst/>
          </a:prstGeom>
          <a:solidFill>
            <a:srgbClr val="1A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26942" y="173736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7F7A"/>
                </a:solidFill>
              </a:rPr>
              <a:t>Iter. 155
Atual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6942" y="36576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444444"/>
                </a:solidFill>
              </a:rPr>
              <a:t>pct_ok=68%
stage=1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663440"/>
            <a:ext cx="11247120" cy="36576"/>
          </a:xfrm>
          <a:prstGeom prst="rect">
            <a:avLst/>
          </a:prstGeom>
          <a:solidFill>
            <a:srgbClr val="1A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892040"/>
            <a:ext cx="1920240" cy="1371600"/>
          </a:xfrm>
          <a:prstGeom prst="rect">
            <a:avLst/>
          </a:prstGeom>
          <a:solidFill>
            <a:srgbClr val="1A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9377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Stage 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30352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Concluído
iter. ~50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34639" y="4892040"/>
            <a:ext cx="1920240" cy="1371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34639" y="49377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Stage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39" y="530352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Ativo
iter. 155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0" y="4892040"/>
            <a:ext cx="1920240" cy="13716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0" y="49377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pct_ok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530352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75.5%
(meta: 90%)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59" y="4892040"/>
            <a:ext cx="1920240" cy="1371600"/>
          </a:xfrm>
          <a:prstGeom prst="rect">
            <a:avLst/>
          </a:prstGeom>
          <a:solidFill>
            <a:srgbClr val="1A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23759" y="49377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S4 L-C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59" y="530352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learning_signals
ativo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18319" y="4892040"/>
            <a:ext cx="1920240" cy="1371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19" y="49377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Meta-learn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19" y="530352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 cada
10 iterações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PROBLEMAS IDENTIFICADOS E CORREÇÕES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73152" cy="82296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097280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4E"/>
                </a:solidFill>
              </a:rPr>
              <a:t>State machine de eixo sem reset por página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19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Contaminou 21 registros PGFN com E3 incorreto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23443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F7A"/>
                </a:solidFill>
              </a:rPr>
              <a:t>✅ FIX v3.0: eixo_atual = None a cada nova página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73152" cy="82296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194560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4E"/>
                </a:solidFill>
              </a:rPr>
              <a:t>URLs hardcoded no CATÁLOGO (100/120 com 404)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146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Pipeline de extração falhava na maioria dos PDFs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3317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F7A"/>
                </a:solidFill>
              </a:rPr>
              <a:t>✅ FIX v3.0: scraping dinâmico do portal HTML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91839"/>
            <a:ext cx="73152" cy="822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291839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4E"/>
                </a:solidFill>
              </a:rPr>
              <a:t>PRODUTOS hardcoded no script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611879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Exige edição do código a cada novo ciclo PTD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342899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F7A"/>
                </a:solidFill>
              </a:rPr>
              <a:t>✅ FIX v2.1: externalizado em config/produtos_sgd_v23.json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389120"/>
            <a:ext cx="73152" cy="822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389120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4E"/>
                </a:solidFill>
              </a:rPr>
              <a:t>Correção E3 PGFN-específica (frágil)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709159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Falha para qualquer novo órgão com padrão similar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5262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F7A"/>
                </a:solidFill>
              </a:rPr>
              <a:t>✅ FIX v2.1: regras em config/correcoes_eixo.json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486400"/>
            <a:ext cx="73152" cy="822960"/>
          </a:xfrm>
          <a:prstGeom prst="rect">
            <a:avLst/>
          </a:prstGeom>
          <a:solidFill>
            <a:srgbClr val="CC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486400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4E"/>
                </a:solidFill>
              </a:rPr>
              <a:t>Sem SHA-256 dos PDFs nos registros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8064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Impossível rastrear registro → PDF de origem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5623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F7A"/>
                </a:solidFill>
              </a:rPr>
              <a:t>✅ FIX v3.0: pdf_sha256 em cada linha + pipeline_manifest.json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BALANÇO S5 — ATENDIMENTO DO PROPÓSITO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74552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73152" cy="146304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1887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4E"/>
                </a:solidFill>
              </a:rPr>
              <a:t>pct_ok ≥ 90%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75.5% atual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3258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63946"/>
                </a:solidFill>
              </a:rPr>
              <a:t>−14.5pp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3258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63946"/>
                </a:solidFill>
              </a:rPr>
              <a:t>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234440"/>
            <a:ext cx="4389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44444"/>
                </a:solidFill>
              </a:rPr>
              <a:t>Causa: Vocab insuficiente (54 produtos), col_map=0% INCRA, watcher loop vazio (resolvido iter. 155)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34640"/>
            <a:ext cx="11274552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834640"/>
            <a:ext cx="73152" cy="146304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8803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4E"/>
                </a:solidFill>
              </a:rPr>
              <a:t>Riscos ≥ 80% órgãos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2918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31/59 órgãos (52%)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0175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63946"/>
                </a:solidFill>
              </a:rPr>
              <a:t>−16 órgãos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0175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63946"/>
                </a:solidFill>
              </a:rPr>
              <a:t>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926080"/>
            <a:ext cx="4389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44444"/>
                </a:solidFill>
              </a:rPr>
              <a:t>Causa: Extrator L7 funciona para 31 órgãos; 28 sem riscos (ausência real ou falha do parser)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526280"/>
            <a:ext cx="11274552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526280"/>
            <a:ext cx="73152" cy="146304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5720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4E"/>
                </a:solidFill>
              </a:rPr>
              <a:t>Eixos 2/5/6 &gt; 5% cada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983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E2=1.9%  E5=0.2%  E6=0.6%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709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63946"/>
                </a:solidFill>
              </a:rPr>
              <a:t>&lt; 1% em 3 eixos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7091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63946"/>
                </a:solidFill>
              </a:rPr>
              <a:t>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617720"/>
            <a:ext cx="4389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44444"/>
                </a:solidFill>
              </a:rPr>
              <a:t>Causa: Regex expandida (iter. 155) — resultado verificável no próximo run completo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1A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97706"/>
                </a:solidFill>
              </a:rPr>
              <a:t>Critérios atendidos: 0 de 3  ·  Meta de convergência: iter. 204 (pct_ok ≥ 88%)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QUALIDADE DO CORPUS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73152" cy="1463040"/>
          </a:xfrm>
          <a:prstGeom prst="rect">
            <a:avLst/>
          </a:prstGeom>
          <a:solidFill>
            <a:srgbClr val="1A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2B4E"/>
                </a:solidFill>
              </a:rPr>
              <a:t>59/59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44444"/>
                </a:solidFill>
              </a:rPr>
              <a:t>Cobertura de órgãos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86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Todos os 59 órgãos com ao menos 1 entrega extraída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54864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73152" cy="1463040"/>
          </a:xfrm>
          <a:prstGeom prst="rect">
            <a:avLst/>
          </a:prstGeom>
          <a:solidFill>
            <a:srgbClr val="1A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2801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2B4E"/>
                </a:solidFill>
              </a:rPr>
              <a:t>75.5%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965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44444"/>
                </a:solidFill>
              </a:rPr>
              <a:t>Parse OK (serv+prod)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286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14.427 linhas com campos identificados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26080"/>
            <a:ext cx="54864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926080"/>
            <a:ext cx="73152" cy="1463040"/>
          </a:xfrm>
          <a:prstGeom prst="rect">
            <a:avLst/>
          </a:prstGeom>
          <a:solidFill>
            <a:srgbClr val="1A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0175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2B4E"/>
                </a:solidFill>
              </a:rPr>
              <a:t>97.1%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703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44444"/>
                </a:solidFill>
              </a:rPr>
              <a:t>Cobertura serviço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023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Serviços identificados no corpus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926080"/>
            <a:ext cx="54864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2926080"/>
            <a:ext cx="73152" cy="1463040"/>
          </a:xfrm>
          <a:prstGeom prst="rect">
            <a:avLst/>
          </a:prstGeom>
          <a:solidFill>
            <a:srgbClr val="1A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0175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2B4E"/>
                </a:solidFill>
              </a:rPr>
              <a:t>76.2%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703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44444"/>
                </a:solidFill>
              </a:rPr>
              <a:t>Cobertura produto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023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Meta: ≥90% | 3.969 linhas sem_produto pendentes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663440"/>
            <a:ext cx="54864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663440"/>
            <a:ext cx="73152" cy="1463040"/>
          </a:xfrm>
          <a:prstGeom prst="rect">
            <a:avLst/>
          </a:prstGeom>
          <a:solidFill>
            <a:srgbClr val="1A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754879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2B4E"/>
                </a:solidFill>
              </a:rPr>
              <a:t>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4406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44444"/>
                </a:solidFill>
              </a:rPr>
              <a:t>IA real identificada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60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Registros em 11 órgãos (PAT_IA_REAL preciso)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663440"/>
            <a:ext cx="54864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4663440"/>
            <a:ext cx="73152" cy="1463040"/>
          </a:xfrm>
          <a:prstGeom prst="rect">
            <a:avLst/>
          </a:prstGeom>
          <a:solidFill>
            <a:srgbClr val="1A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4754879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2B4E"/>
                </a:solidFill>
              </a:rPr>
              <a:t>73.9%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54406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44444"/>
                </a:solidFill>
              </a:rPr>
              <a:t>Cobertura data PTD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5760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4444"/>
                </a:solidFill>
              </a:rPr>
              <a:t>Datas de entrega extraídas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AVALIAÇÃO DE PRONTIDÃO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325880"/>
            <a:ext cx="5029200" cy="4114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74720" y="1325880"/>
            <a:ext cx="3017520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4E"/>
                </a:solidFill>
              </a:rPr>
              <a:t>Completude da coleta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1887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</a:rPr>
              <a:t>3/5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1234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44444"/>
                </a:solidFill>
              </a:rPr>
              <a:t>Scraping dinâmico implementado; ~30% PDFs ainda sem extração validada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2093976"/>
            <a:ext cx="5029200" cy="4114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093976"/>
            <a:ext cx="4023360" cy="411480"/>
          </a:xfrm>
          <a:prstGeom prst="rect">
            <a:avLst/>
          </a:prstGeom>
          <a:solidFill>
            <a:srgbClr val="1A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956816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4E"/>
                </a:solidFill>
              </a:rPr>
              <a:t>Qualidade da extração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195681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7F7A"/>
                </a:solidFill>
              </a:rPr>
              <a:t>4/5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200253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44444"/>
                </a:solidFill>
              </a:rPr>
              <a:t>Docling TableFormer + fix state machine; OCR para PDFs tarjados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2862072"/>
            <a:ext cx="5029200" cy="4114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74720" y="2862072"/>
            <a:ext cx="4023360" cy="411480"/>
          </a:xfrm>
          <a:prstGeom prst="rect">
            <a:avLst/>
          </a:prstGeom>
          <a:solidFill>
            <a:srgbClr val="1A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72491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4E"/>
                </a:solidFill>
              </a:rPr>
              <a:t>Curadoria semântica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72491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7F7A"/>
                </a:solidFill>
              </a:rPr>
              <a:t>4/5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77063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44444"/>
                </a:solidFill>
              </a:rPr>
              <a:t>Parser, tipo_entrega, ia_real, correção E3 com regras externas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3630168"/>
            <a:ext cx="5029200" cy="4114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74720" y="3630168"/>
            <a:ext cx="4023360" cy="411480"/>
          </a:xfrm>
          <a:prstGeom prst="rect">
            <a:avLst/>
          </a:prstGeom>
          <a:solidFill>
            <a:srgbClr val="1A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49300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4E"/>
                </a:solidFill>
              </a:rPr>
              <a:t>Rastreabilidade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349300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7F7A"/>
                </a:solidFill>
              </a:rPr>
              <a:t>4/5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53872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44444"/>
                </a:solidFill>
              </a:rPr>
              <a:t>SHA-256 PDFs + hashes CSV inputs + pipeline_manifest.json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0" y="4398264"/>
            <a:ext cx="5029200" cy="4114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74720" y="4398264"/>
            <a:ext cx="3017520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261104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4E"/>
                </a:solidFill>
              </a:rPr>
              <a:t>Reprodutibilidade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4261104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</a:rPr>
              <a:t>3/5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430682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44444"/>
                </a:solidFill>
              </a:rPr>
              <a:t>Checkpoints implementados; falta documentação de ambiente (requirements.txt)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720" y="5166360"/>
            <a:ext cx="5029200" cy="4114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74720" y="5166360"/>
            <a:ext cx="3017520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029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4E"/>
                </a:solidFill>
              </a:rPr>
              <a:t>Ciência aberta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50292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</a:rPr>
              <a:t>3/5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5074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44444"/>
                </a:solidFill>
              </a:rPr>
              <a:t>Código versionado no GitHub; falta DOI de dados e licença explícita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74720" y="5934456"/>
            <a:ext cx="5029200" cy="41148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474720" y="5934456"/>
            <a:ext cx="2011680" cy="41148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797296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4E"/>
                </a:solidFill>
              </a:rPr>
              <a:t>Pronto para publicação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579729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3946"/>
                </a:solidFill>
              </a:rPr>
              <a:t>2/5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20" y="584301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44444"/>
                </a:solidFill>
              </a:rPr>
              <a:t>Requires: validação manual amostra + relatório HTML + DOI Zenodo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ARQUITETURA DE APRENDIZADO — VSM CIBERNÉTICO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502920" cy="713232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143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4E"/>
                </a:solidFill>
              </a:rPr>
              <a:t>Política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44475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44444"/>
                </a:solidFill>
              </a:rPr>
              <a:t>Operador humano + thresholds (90% pct_ok, 80% riscos)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84248"/>
            <a:ext cx="502920" cy="713232"/>
          </a:xfrm>
          <a:prstGeom prst="rect">
            <a:avLst/>
          </a:prstGeom>
          <a:solidFill>
            <a:srgbClr val="1A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07568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029967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7F7A"/>
                </a:solidFill>
              </a:rPr>
              <a:t>Inteligência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317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44444"/>
                </a:solidFill>
              </a:rPr>
              <a:t>meta_learning.py · ptd_learning_signals.json (S4 ativo!)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871215"/>
            <a:ext cx="502920" cy="713232"/>
          </a:xfrm>
          <a:prstGeom prst="rect">
            <a:avLst/>
          </a:prstGeom>
          <a:solidFill>
            <a:srgbClr val="1A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962656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916935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7F7A"/>
                </a:solidFill>
              </a:rPr>
              <a:t>Gestão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218687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44444"/>
                </a:solidFill>
              </a:rPr>
              <a:t>watcher.yml · state machine · problem classification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758184"/>
            <a:ext cx="502920" cy="7132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84962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S3*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80390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</a:rPr>
              <a:t>Auditoria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10565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44444"/>
                </a:solidFill>
              </a:rPr>
              <a:t>gerar_relatorio.py · ptd_run_summary.json · sensor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645152"/>
            <a:ext cx="502920" cy="7132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73659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6908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</a:rPr>
              <a:t>Coordenação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99262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44444"/>
                </a:solidFill>
              </a:rPr>
              <a:t>config/ (vocab, col_keys, normas) — estático hoje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532120"/>
            <a:ext cx="502920" cy="713232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5623559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577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B4E"/>
                </a:solidFill>
              </a:rPr>
              <a:t>Operações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87959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44444"/>
                </a:solidFill>
              </a:rPr>
              <a:t>ptd_pipeline_v30.py · ptd_corpus_v21.py por órgão/PDF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1097280"/>
            <a:ext cx="5029200" cy="54864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0" y="1234440"/>
            <a:ext cx="548640" cy="13716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150876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L-C
global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12801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2B4E"/>
                </a:solidFill>
              </a:rPr>
              <a:t>ptd_learning_signals.json
Run history · delta_pct_ok · per_sigla_ok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192024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44444"/>
                </a:solidFill>
              </a:rPr>
              <a:t>Acumulado em pipeline-outputs. Trajetória de 50 iters.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2944368"/>
            <a:ext cx="548640" cy="1371600"/>
          </a:xfrm>
          <a:prstGeom prst="rect">
            <a:avLst/>
          </a:prstGeom>
          <a:solidFill>
            <a:srgbClr val="1A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0" y="3218688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L-B
meta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2990088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F7A"/>
                </a:solidFill>
              </a:rPr>
              <a:t>meta_learning.py (iter % 10)
Slope analysis · strategy switch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79" y="3630168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44444"/>
                </a:solidFill>
              </a:rPr>
              <a:t>slope &lt; 0.1pp/iter → troca vocabulario→col_keys→eixo_regex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0" y="4654296"/>
            <a:ext cx="548640" cy="1371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0" y="4928616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L-A
iteração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79" y="4700016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</a:rPr>
              <a:t>vocab + col_keys + eixo regex
por-sigla + unrecognized_headers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79" y="5340096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44444"/>
                </a:solidFill>
              </a:rPr>
              <a:t>Watcher Steps A/B/D a cada ciclo de 5 min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6492240"/>
            <a:ext cx="11247120" cy="36576"/>
          </a:xfrm>
          <a:prstGeom prst="rect">
            <a:avLst/>
          </a:prstGeom>
          <a:solidFill>
            <a:srgbClr val="1A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1A7F7A"/>
                </a:solidFill>
              </a:rPr>
              <a:t>S4 passa de 🔴 para 🟡 ativo: ptd_learning_signals.json acumulando desde iter. 155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PRÓXIMOS PASSOS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566160" cy="594360"/>
          </a:xfrm>
          <a:prstGeom prst="rect">
            <a:avLst/>
          </a:prstGeom>
          <a:solidFill>
            <a:srgbClr val="1A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Curto prazo
(iters 155–174)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pct_ok: 75.5% → 80% via vocab por sigla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9184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INCRA col_map_ok: 0% → &gt;50% (col_keys_extra.json)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66344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Meta-insight #1 gerado na iter. 164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188720"/>
            <a:ext cx="3566160" cy="5943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23444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Médio prazo
(iters 175–194)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92024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pct_ok ≥ 80% → Stage 2 gate (aprovação humana)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29184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Eixos 2/5/6 &gt; 3% cada (regex expandida)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66344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Publicar corpus no Repositório de Dados IPEA (DOI)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188720"/>
            <a:ext cx="3566160" cy="594360"/>
          </a:xfrm>
          <a:prstGeom prst="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123444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Longo prazo
(iters 195–204)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92024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pct_ok ≥ 88% · learning_signals com 50 entradas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29184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Análise comparativa PTDs 2025 vs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66344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• S4 completo: ptd_learning_signals → recomendações automáticas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7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BALANÇO DE SESSÃO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7F7A"/>
                </a:solidFill>
              </a:rPr>
              <a:t>✅ CORPUS E INFRAESTRUTURA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Corpus PTD-BR v2.1     — 18.396 comprometimentos · 59 órgãos · 420 riscos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ptd_pipeline_v30.py     — Pipeline autônomo com loop watcher (155 iterações)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meta_learning.py        — S4 mínimo viável: slope analysis + strategy switch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config/col_keys_extra.json   — Col_map por sigla (Step B watcher)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54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ptd_constants.py        — Regex eixos 2/5/6 expandida (3× cobertura)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66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gerar_apresentacao.py   — Este PPT (reproduzível) + gerar_relatorio_tecnico.py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14800"/>
            <a:ext cx="1124712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251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</a:rPr>
              <a:t>⚠️  PENDENTE (próximas 50 iterações — iter. 155→204)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63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97706"/>
                </a:solidFill>
              </a:rPr>
              <a:t>• pct_ok: 75.5% → meta 90% (via vocab + col_keys expansão autônoma)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056631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97706"/>
                </a:solidFill>
              </a:rPr>
              <a:t>• INCRA col_map_ok: 0% → &gt;50% (headers capturados, col_keys_extra.json no próximo run)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44982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97706"/>
                </a:solidFill>
              </a:rPr>
              <a:t>• Eixos 2/5/6: &lt;1% → esperado &gt;3% (regex expandida no último commit)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</a:rPr>
              <a:t>Gerado em 06/04/2026 15:46 | COGIT/DIEST/IPEA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